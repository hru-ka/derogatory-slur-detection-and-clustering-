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Derogatory Slur Usage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Span-Aware Transformer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RAPT: Reclamation/Reappropriation-Aware Processing Transformer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and Search (TM&amp;S) — Course Project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Hrutuja Girish Kargirwar (925351)   ·   Nastaran Janialiabadi (922779)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word, three different meanings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that only reacts to a word, not its context, will get most of these wrong.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icons/times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1488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f***ing [slur]”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1" descr="icons/comments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214884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2628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/ descriptive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[slur] pill” (referring to hormones)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18288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14884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96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Reclaimed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reclaim the word [slur]”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classify DEG (derogatory) vs. non-DEG usage, from context — not just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the Slur Corpus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Kurrek, Saleem &amp; Ruths (2020) — Workshop on Online Abuse and Harms, ACL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470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8470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2186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2186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 terms covered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5902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 vs. non-DEG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45902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task (from 5 gold labels)</a:t>
            </a:r>
            <a:endParaRPr lang="en-US" sz="1400" dirty="0"/>
          </a:p>
        </p:txBody>
      </p:sp>
      <p:pic>
        <p:nvPicPr>
          <p:cNvPr id="13" name="Image 0" descr="cell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37360"/>
            <a:ext cx="4892040" cy="38404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720840" y="55778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Train-split class balance — near-even, so macro-F1 is a fair metric.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required core tasks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25400">
            <a:solidFill>
              <a:srgbClr val="4C72B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icons/balanc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8288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Classification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35661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use of the slur derogatory (DEG) or not?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compared, two text representations.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25400">
            <a:solidFill>
              <a:srgbClr val="C44E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1" descr="icons/projec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Clustering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675120" y="35661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learned embeddings separate into DEG / non-DEG groups on their own — with no labels used?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representations need two pipelines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4" name="Image 0" descr="icons/filte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645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→ TF-IDF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Tokenize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Lowercase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Remove stopwords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Stem (Porter)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663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Needed: TF-IDF treats each word form as an independent feature.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2" name="Image 1" descr="icons/brain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1645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→ XLM-R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Normalize URLs only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Mark [SLUR] span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(nothing else)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4663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on purpose: stemming/stopword removal would destroy the context (e.g. negation) the model relies 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head to head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4" name="Image 0" descr="icons/balanc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74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Logistic Regression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03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linear, interpretable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3756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1" descr="icons/balanc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7452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2044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Linear SVM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566160" y="3703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classical baseline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2648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2" name="Image 2" descr="icons/brain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7452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CLS-only Transformer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55080" y="3703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XLM-R fine-tuning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91540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5F5"/>
          </a:solidFill>
          <a:ln w="25400">
            <a:solidFill>
              <a:srgbClr val="C44E52"/>
            </a:solidFill>
            <a:prstDash val="solid"/>
          </a:ln>
        </p:spPr>
      </p:sp>
      <p:pic>
        <p:nvPicPr>
          <p:cNvPr id="16" name="Image 3" descr="icons/layer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187452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982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RAPT (ours)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144000" y="3703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Span-aware fusion — our contribution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98280" y="5349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RAPT: two views of the same sentence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you f***ing [SLUR] tranny [/SLUR] get out 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2148840"/>
            <a:ext cx="4297680" cy="640080"/>
          </a:xfrm>
          <a:prstGeom prst="round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0" y="2148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XLM-R Encoder (self-attention)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C44E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h_slur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token embeddings inside [SLUR]...[/SLUR] — local, term-specific 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324612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4C72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h_cls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 embedding — whole-sentence context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1920" y="4663440"/>
            <a:ext cx="4297680" cy="59436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46634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[ h_slur ; h_cls ]  →  MLP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5623560"/>
            <a:ext cx="2743200" cy="548640"/>
          </a:xfrm>
          <a:prstGeom prst="roundRect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5623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or non-DEG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0" y="2788920"/>
            <a:ext cx="-210312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2788920"/>
            <a:ext cx="182880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91840" y="4297680"/>
            <a:ext cx="219456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95360" y="4297680"/>
            <a:ext cx="-182880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52578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 we found and fixed</a:t>
            </a:r>
            <a:endParaRPr lang="en-US" sz="3000" dirty="0"/>
          </a:p>
        </p:txBody>
      </p:sp>
      <p:pic>
        <p:nvPicPr>
          <p:cNvPr id="3" name="Image 0" descr="icons/bu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2004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4630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5F5"/>
          </a:solidFill>
          <a:ln w="19050">
            <a:solidFill>
              <a:srgbClr val="C44E5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comments are long — longer than 128 tokens.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 position was computed before truncation.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past the truncated end gave an empty tensor.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mean() of an empty tensor = NaN → model died from step 1.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4630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0F7F4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1945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slur span would be truncated away,
fall back to h_slur = h_cls instead of crashing.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gradient clipping as extra safety.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RAPT trains normally, reaching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 test macro F1 (next slides).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</a:t>
            </a:r>
            <a:endParaRPr lang="en-US" sz="3000" dirty="0"/>
          </a:p>
        </p:txBody>
      </p:sp>
      <p:pic>
        <p:nvPicPr>
          <p:cNvPr id="3" name="Image 0" descr="cell2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005840"/>
            <a:ext cx="6858000" cy="4389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108960" y="5623560"/>
            <a:ext cx="594360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108960" y="56235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F1 points from representation alone — context beats bag-of-words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dynamics (RAPT)</a:t>
            </a:r>
            <a:endParaRPr lang="en-US" sz="3000" dirty="0"/>
          </a:p>
        </p:txBody>
      </p:sp>
      <p:pic>
        <p:nvPicPr>
          <p:cNvPr id="3" name="Image 0" descr="cell1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51560"/>
            <a:ext cx="9784080" cy="35021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46634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falls monotonically; dev F1 peaks at epoch 3 (0.889), dips slightly at epoch 4 — mild overfitting.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best checkpoint, not the last one — the CLS-only baseline follows a near-identical trajectory.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RAPT gets it wrong</a:t>
            </a:r>
            <a:endParaRPr lang="en-US" sz="3000" dirty="0"/>
          </a:p>
        </p:txBody>
      </p:sp>
      <p:pic>
        <p:nvPicPr>
          <p:cNvPr id="3" name="Image 0" descr="cell16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466344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as non-DEG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547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as DEG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474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474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(flagged DEG, actually fine)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4480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480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a derogatory use)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close to symmetric — no strong bias toward over- or under-flagging.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do the embeddings self-organize?</a:t>
            </a:r>
            <a:endParaRPr lang="en-US" sz="2800" dirty="0"/>
          </a:p>
        </p:txBody>
      </p:sp>
      <p:pic>
        <p:nvPicPr>
          <p:cNvPr id="3" name="Image 0" descr="cell2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7589520" cy="31272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06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clusters (left) vs. true DEG/non-DEG labels (right) — same PCA projection of RAPT's [CLS] embeddings, no labels used to cluster.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458200" y="12801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4C72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true labels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30175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44E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0.796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separation)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classifier's learned embeddings carry a strong, separable derogatory/non-derogatory signal — even without ever using the labels to cluster.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warnin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limitation: negation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14400" y="16459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88720" y="1737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“He is a [slur].”</a:t>
            </a:r>
            <a:endParaRPr lang="en-US" sz="1700" dirty="0"/>
          </a:p>
        </p:txBody>
      </p:sp>
      <p:pic>
        <p:nvPicPr>
          <p:cNvPr id="6" name="Image 1" descr="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2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DEG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914400" y="310896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88720" y="3200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“He is NOT a [slur].”</a:t>
            </a:r>
            <a:endParaRPr lang="en-US" sz="1700" dirty="0"/>
          </a:p>
        </p:txBody>
      </p:sp>
      <p:pic>
        <p:nvPicPr>
          <p:cNvPr id="10" name="Image 2" descr="icons/times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33756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DEG (wrong)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leans on “slur present → derogatory” more than full grammatical parsing — a known failure mode in hate-speech classifiers (Röttger et al., HateCheck, 2021), not a code bug.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3" name="Image 0" descr="icons/bulb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12801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embeddings clearly beat classical TF-IDF (+10 F1 points).</a:t>
            </a:r>
            <a:endParaRPr lang="en-US" sz="1600" dirty="0"/>
          </a:p>
        </p:txBody>
      </p:sp>
      <p:pic>
        <p:nvPicPr>
          <p:cNvPr id="5" name="Image 1" descr="icons/layer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21945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RAPT's span-aware fusion adds a further modest gain (+0.3 F1) over plain [CLS] fine-tuning.</a:t>
            </a:r>
            <a:endParaRPr lang="en-US" sz="1600" dirty="0"/>
          </a:p>
        </p:txBody>
      </p:sp>
      <p:pic>
        <p:nvPicPr>
          <p:cNvPr id="7" name="Image 2" descr="icons/projec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31089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recovers real label structure (ARI 0.50) with zero label supervision.</a:t>
            </a:r>
            <a:endParaRPr lang="en-US" sz="1600" dirty="0"/>
          </a:p>
        </p:txBody>
      </p:sp>
      <p:pic>
        <p:nvPicPr>
          <p:cNvPr id="9" name="Image 3" descr="icons/cog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6908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40233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truncation bug (NaN loss) was found and fixed — documented for reproducibility.</a:t>
            </a:r>
            <a:endParaRPr lang="en-US" sz="1600" dirty="0"/>
          </a:p>
        </p:txBody>
      </p:sp>
      <p:pic>
        <p:nvPicPr>
          <p:cNvPr id="11" name="Image 4" descr="icons/warning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83480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4937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handling remains an open limitation — flagged honestly as future work.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Hrutuja Girish Kargirwar (925351)   ·   Nastaran Janialiabadi (922779)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2026-09-24T17:56:49Z</dcterms:created>
  <dcterms:modified xsi:type="dcterms:W3CDTF">2026-09-24T17:56:49Z</dcterms:modified>
</cp:coreProperties>
</file>